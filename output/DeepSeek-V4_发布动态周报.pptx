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594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DeepSeek-V4 发布动态周报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从信息真空到全面临战——技术架构跃迁、算力主权化与资本市场联动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CONFIDENTIAL  |  2026年3月4日 — 3月11日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754880"/>
            <a:ext cx="7315200" cy="365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技术架构跃迁：1M 上下文 + 原生多模态 + mHC/Engram 新架构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算力主权化：战略性去英伟达化，华为昇腾深度绑定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资本市场联动："DeepSeek 交易"成为全球半导体估值的宏观变量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217920"/>
            <a:ext cx="274320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4630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46304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执行摘要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50876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核心结论与三维度影响评级矩阵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86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一周时间线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从"信息真空"到"全面临战"的五个关键日期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8803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1089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10896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SCR 框架分析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15468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Situation / Complication / Resolution 经典三段论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7033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39319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3192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舆情可视化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397764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一周情绪变化趋势——分组柱状图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526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47548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75488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分角色行动建议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80060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按企业决策层/技术团队/投资者分别给出优先级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3492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5778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57784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核心洞见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62356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Key Takeaway 与战略意义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61722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知识库监控报告，2026-03-04 至 2026-03-11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DeepSeek-V4 已进入发布倒计时，其战略意义已超越单纯的技术迭代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0972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10972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核心结论：DeepSeek-V4 正在重新定义中国AI的"算力主权"路径，并成为影响全球半导体估值的宏观变量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2286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65176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核心变化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2651760"/>
            <a:ext cx="249905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影响评级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632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228600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技术架构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200400"/>
            <a:ext cx="594360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1M上下文 + 原生多模态 + mHC/Engram新架构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3200400"/>
            <a:ext cx="2499055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★★★★★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228600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算力生态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840480"/>
            <a:ext cx="594360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战略性"去英伟达化"，华为昇腾优先适配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3840480"/>
            <a:ext cx="2499055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★★★★★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228600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资本市场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480560"/>
            <a:ext cx="5943600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"DeepSeek交易"效应形成，全球半导体股价联动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480560"/>
            <a:ext cx="2499055" cy="6400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★★★★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1206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303520"/>
            <a:ext cx="10728655" cy="9144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349240"/>
            <a:ext cx="1371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三条主线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715000"/>
            <a:ext cx="10180015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① 技术架构跃迁    ② 算力主权化    ③ 资本市场联动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知识库监控报告（2026-03-04 至 2026-03-11），综合路透社、金融时报、科创板日报等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3月4日 — 信息真空期："暴风雨前的宁静"，市场期待感极度紧绷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00400" cy="1645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2834640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378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rPr>
                <a:ea typeface="KaiTi"/>
              </a:rPr>
              <a:t>248 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83464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监控动态抓取量</a:t>
            </a:r>
            <a:br/>
            <a:r>
              <a:rPr>
                <a:ea typeface="KaiTi"/>
              </a:rPr>
              <a:t>互动量全部为零（SEO空转）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关键研判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828800"/>
            <a:ext cx="6858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011680"/>
            <a:ext cx="6858000" cy="1463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信号强度：低（噪音期），舆情中性（正面 20% / 中性 80%）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DeepSeek 处于极严信息保密期，与硅谷"渐进式泄露"完全不同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高频关键词占位反映市场极度紧绷的期待感</a:t>
            </a:r>
          </a:p>
          <a:p>
            <a:pPr algn="l">
              <a:lnSpc>
                <a:spcPts val="1890"/>
              </a:lnSpc>
              <a:spcBef>
                <a:spcPts val="8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品牌溢价已形成——V4 发布将不仅是技术事件，而是商业分水岭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114800"/>
            <a:ext cx="10728655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60520"/>
            <a:ext cx="18288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McKinsey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572000"/>
            <a:ext cx="10180015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这种"真空态"在历史上是大型发布前的典型信号。积压的关注度一旦遇到真实信号，将引发指数级传播效应。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舆情监测平台，2026年3月4日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3月6日 — 信号爆发日：三大重磅同日引爆，V4 从"模糊预期"变为"可定价事件"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200400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3200400" cy="3931920"/>
          </a:xfrm>
          <a:prstGeom prst="rect">
            <a:avLst/>
          </a:prstGeom>
          <a:solidFill>
            <a:srgbClr val="E8EB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283464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技术参数曝光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834640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上下文窗口：1M Token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（Claude 4.5 仅 200K）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SWE-bench: 83.7%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（Claude Opus 4.5: 80.9%）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架构：MoE + Engram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原生多模态（文/图/视频）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5647" y="1188720"/>
            <a:ext cx="3200400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5647" y="1243584"/>
            <a:ext cx="3200400" cy="3931920"/>
          </a:xfrm>
          <a:prstGeom prst="rect">
            <a:avLst/>
          </a:prstGeom>
          <a:solidFill>
            <a:srgbClr val="E3F0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8527" y="1371600"/>
            <a:ext cx="283464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"去英伟达化"公开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8527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8527" y="2103120"/>
            <a:ext cx="2834640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拒绝向英伟达/AMD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提供V4早期访问权限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优先适配：华为昇腾、寒武纪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战略意图：构建"自主算法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+ 自主算力"闭环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59775" y="1188720"/>
            <a:ext cx="320040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9775" y="1243584"/>
            <a:ext cx="3200400" cy="39319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2655" y="1371600"/>
            <a:ext cx="283464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"DeepSeek交易"升温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2655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2655" y="2103120"/>
            <a:ext cx="2834640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A股概念股异动：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浙江东方、润和软件、汉得信息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华尔街担忧重演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（R1曾致英伟达单日暴跌16%）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舆情正面 75% / 负面 10%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394960"/>
            <a:ext cx="10728655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94960"/>
            <a:ext cx="182880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McKinsey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394960"/>
            <a:ext cx="8168335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3月6日是整个追踪周期的"信息拐点"。从这一天起，V4 从"模糊预期"变为"可定价事件"。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路透社、金融时报、科创板日报、微博、B站，2026年3月6日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3月9日 — 进入临战状态：发布窗口锁定、架构革新、国产算力深化、Agent生态爆发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2468880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37360" y="15087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0312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发布窗口锁定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560320"/>
            <a:ext cx="19202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19456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路透社、金融时报多源确认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万亿参数级旗舰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同步发布技术说明</a:t>
            </a:r>
          </a:p>
        </p:txBody>
      </p:sp>
      <p:sp>
        <p:nvSpPr>
          <p:cNvPr id="9" name="Rectangle 8"/>
          <p:cNvSpPr/>
          <p:nvPr/>
        </p:nvSpPr>
        <p:spPr>
          <a:xfrm>
            <a:off x="3484778" y="1371600"/>
            <a:ext cx="2468880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90618" y="15087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21938" y="210312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架构级革新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59098" y="2560320"/>
            <a:ext cx="19202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938" y="2743200"/>
            <a:ext cx="219456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mHC：推理与知识分离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Engram：解决灾难性遗忘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推理成本可降低达 90%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8036" y="1371600"/>
            <a:ext cx="2468880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43876" y="15087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5196" y="210312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国产算力深化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12356" y="2560320"/>
            <a:ext cx="19202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5196" y="2743200"/>
            <a:ext cx="219456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昇腾推理速度提升 35x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Atlas 950超节点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8192张昇腾950DT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91295" y="1371600"/>
            <a:ext cx="2468880" cy="39319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97135" y="15087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8455" y="2103120"/>
            <a:ext cx="2194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Agent生态爆发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65615" y="2560320"/>
            <a:ext cx="19202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8455" y="2743200"/>
            <a:ext cx="219456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OpenClaw 增速超 Linux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DeepSeek编码成功率极高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Token消耗量将指数增长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577840"/>
            <a:ext cx="10728655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77840"/>
            <a:ext cx="18288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McKinsey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577840"/>
            <a:ext cx="8168335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竞争维度从"模型能力"升级到"模型+算力+Agent生态"三角闭环——从"单品发布"到"平台级事件"的质变。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路透社、GitHub、华为昇腾技术文档，2026年3月9日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3月10日 — 技术确认日：灰度测试实锤 1M 上下文，产业链标的加速聚焦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技术实锤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✓  网页端/APP端已开始灰度测试 1M 上下文新模型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✓  V4 Lite（Sealion-lite）效果显著优于现有模型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✓  确认原生多模态（预训练阶段融合视觉+文本）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产业链标的加速聚焦：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高新发展、拓维信息（整机集成）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华丰科技（连接器）、川润股份（液冷散热）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"华为昇腾+DeepSeek"被视为政企大模型标配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128016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风险信号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737360"/>
            <a:ext cx="50292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1920240"/>
            <a:ext cx="5029200" cy="2743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⚠  V4发布时间多次跳票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    部分归因于GPU出口管控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⚠  用户呼吁尽快上线API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    灰度测试体验不佳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⚠  "第三次跳票已经发生"</a:t>
            </a:r>
          </a:p>
          <a:p>
            <a:pPr algn="l">
              <a:lnSpc>
                <a:spcPts val="1890"/>
              </a:lnSpc>
              <a:spcBef>
                <a:spcPts val="6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    引发部分用户情绪反噬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5029200"/>
            <a:ext cx="10728655" cy="8229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029200"/>
            <a:ext cx="182880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McKinsey 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5029200"/>
            <a:ext cx="8168335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舆情正面 75% / 中性 20% / 负面 5%。信号强度极高（确认期）——灰度测试是从"预期"到"事实"的关键跨越。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DeepSeek 官方产品、A股公告、用户社区反馈，2026年3月10日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3月11日 — 临界点：信号强度最高，全维度极度亢奋与焦虑并存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200400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3200400" cy="3474720"/>
          </a:xfrm>
          <a:prstGeom prst="rect">
            <a:avLst/>
          </a:prstGeom>
          <a:solidFill>
            <a:srgbClr val="E8EB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283464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资本市场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283464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财经大V将V4视为3月最大催化剂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"看DeepSeek V4硬度选股"成热词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B站评测视频单条评论破千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全网讨论达峰值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5647" y="1188720"/>
            <a:ext cx="3200400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95647" y="1243584"/>
            <a:ext cx="3200400" cy="3474720"/>
          </a:xfrm>
          <a:prstGeom prst="rect">
            <a:avLst/>
          </a:prstGeom>
          <a:solidFill>
            <a:srgbClr val="E3F0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8527" y="1371600"/>
            <a:ext cx="283464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开发者生态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8527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8527" y="2103120"/>
            <a:ext cx="283464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长文本能力将对RAG创业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产生降维打击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AI Agent记忆能力获得质变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OpenClaw本地部署成新热点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59775" y="1188720"/>
            <a:ext cx="320040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59775" y="1243584"/>
            <a:ext cx="3200400" cy="34747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2655" y="1371600"/>
            <a:ext cx="2834640" cy="4572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风险信号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42655" y="192024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2655" y="2103120"/>
            <a:ext cx="283464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"DeepSeek 又崩了"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反映服务器稳定性隐忧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"第三次跳票已经发生"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• 引发部分用户情绪反噬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5029200"/>
            <a:ext cx="10728655" cy="1097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074920"/>
            <a:ext cx="18288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McKinsey Insight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486400"/>
            <a:ext cx="10180015" cy="5486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当市场情绪进入"极度亢奋"阶段，需警惕"利好出尽"风险。真正的价值判断应回归V4的技术验证结果与API定价策略。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微博、B站、投资社区、GitHub，2026年3月11日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SCR 框架分析：V4 技术领先但面临算力瓶颈与竞争窗口收窄双重挑战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3200400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43584"/>
            <a:ext cx="3200400" cy="4114800"/>
          </a:xfrm>
          <a:prstGeom prst="rect">
            <a:avLst/>
          </a:prstGeom>
          <a:solidFill>
            <a:srgbClr val="E8EBE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417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92608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Situation</a:t>
            </a:r>
            <a:br/>
            <a:r>
              <a:rPr>
                <a:ea typeface="KaiTi"/>
              </a:rPr>
              <a:t>现状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834640" cy="21031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V4 已完成从信息真空到全面临战的转变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技术参数全面对标国际顶尖水平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（1M上下文、原生多模态、SWE-bench 83.7%）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5647" y="1188720"/>
            <a:ext cx="3200400" cy="54864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5647" y="1243584"/>
            <a:ext cx="3200400" cy="4114800"/>
          </a:xfrm>
          <a:prstGeom prst="rect">
            <a:avLst/>
          </a:prstGeom>
          <a:solidFill>
            <a:srgbClr val="E3F0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32807" y="1417320"/>
            <a:ext cx="411480" cy="411480"/>
          </a:xfrm>
          <a:prstGeom prst="ellipse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1920240"/>
            <a:ext cx="292608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6BA6"/>
                </a:solidFill>
                <a:latin typeface="Arial"/>
              </a:defRPr>
            </a:pPr>
            <a:r>
              <a:rPr>
                <a:ea typeface="KaiTi"/>
              </a:rPr>
              <a:t>Complication</a:t>
            </a:r>
            <a:br/>
            <a:r>
              <a:rPr>
                <a:ea typeface="KaiTi"/>
              </a:rPr>
              <a:t>挑战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78527" y="274320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8527" y="2926080"/>
            <a:ext cx="2834640" cy="21031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算力瓶颈：GPU出口管控致训练延迟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发布不确定性：多次跳票消耗市场耐心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竞争窗口收窄：GPT-5、Claude 5 在即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9775" y="1188720"/>
            <a:ext cx="3200400" cy="5486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9775" y="1243584"/>
            <a:ext cx="320040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96935" y="1417320"/>
            <a:ext cx="411480" cy="411480"/>
          </a:xfrm>
          <a:prstGeom prst="ellipse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6935" y="1920240"/>
            <a:ext cx="292608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Resolution</a:t>
            </a:r>
            <a:br/>
            <a:r>
              <a:rPr>
                <a:ea typeface="KaiTi"/>
              </a:rPr>
              <a:t>建议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42655" y="2743200"/>
            <a:ext cx="283464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2655" y="2926080"/>
            <a:ext cx="2834640" cy="21031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保持技术栈灵活性，V4首日测试成本效益比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重新评估RAG架构必要性</a:t>
            </a:r>
          </a:p>
          <a:p>
            <a:pPr algn="l">
              <a:lnSpc>
                <a:spcPts val="1620"/>
              </a:lnSpc>
              <a:spcBef>
                <a:spcPts val="6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关注真正完成V4适配的硬核标的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577840"/>
            <a:ext cx="10728655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577840"/>
            <a:ext cx="10180015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关键判断：留给V4的"独占窗口期"有限，GPT-5、Claude 5 发布在即，速度即战略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综合分析，2026年3月4日—11日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9/13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一周舆情演变：情绪分布从3月4日的"冷静等待"急剧转向"全面看多"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舆情情绪分布（%）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802575" y="1188720"/>
            <a:ext cx="164592" cy="164592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31175" y="1097280"/>
            <a:ext cx="9144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正面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9082735" y="1188720"/>
            <a:ext cx="164592" cy="16459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11335" y="1097280"/>
            <a:ext cx="9144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中性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62895" y="1188720"/>
            <a:ext cx="164592" cy="16459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91495" y="1097280"/>
            <a:ext cx="914400" cy="3200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48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负面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0060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142232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4279392"/>
            <a:ext cx="999713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83864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621024"/>
            <a:ext cx="999713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25496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2962656"/>
            <a:ext cx="999713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167128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304288"/>
            <a:ext cx="999713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150876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1645920"/>
            <a:ext cx="999713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63040" y="4937760"/>
            <a:ext cx="9997135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68393" y="4279392"/>
            <a:ext cx="365760" cy="658368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2673" y="4050792"/>
            <a:ext cx="4572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79873" y="2304288"/>
            <a:ext cx="365760" cy="263347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34153" y="2075688"/>
            <a:ext cx="4572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80%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983480"/>
            <a:ext cx="1999427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3/4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67820" y="2468880"/>
            <a:ext cx="365760" cy="24688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22100" y="2240280"/>
            <a:ext cx="4572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9300" y="4443984"/>
            <a:ext cx="365760" cy="4937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33580" y="4215384"/>
            <a:ext cx="4572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90780" y="4608576"/>
            <a:ext cx="365760" cy="32918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45060" y="4379976"/>
            <a:ext cx="4572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62467" y="4983480"/>
            <a:ext cx="1999427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3/6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67247" y="2468880"/>
            <a:ext cx="365760" cy="24688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21527" y="2240280"/>
            <a:ext cx="4572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78727" y="4279392"/>
            <a:ext cx="365760" cy="65836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3007" y="4050792"/>
            <a:ext cx="4572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90207" y="4773168"/>
            <a:ext cx="365760" cy="16459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61894" y="4983480"/>
            <a:ext cx="1999427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3/9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66674" y="2468880"/>
            <a:ext cx="365760" cy="24688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820954" y="2240280"/>
            <a:ext cx="4572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75%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78154" y="4279392"/>
            <a:ext cx="365760" cy="65836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32434" y="4050792"/>
            <a:ext cx="4572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89634" y="4773168"/>
            <a:ext cx="365760" cy="164592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61321" y="4983480"/>
            <a:ext cx="1999427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3/10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66101" y="2468880"/>
            <a:ext cx="365760" cy="24688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0381" y="2240280"/>
            <a:ext cx="4572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75%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77581" y="4443984"/>
            <a:ext cx="365760" cy="493776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31861" y="4215384"/>
            <a:ext cx="4572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15%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689061" y="4608576"/>
            <a:ext cx="365760" cy="329184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643341" y="4379976"/>
            <a:ext cx="457200" cy="228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60748" y="4983480"/>
            <a:ext cx="1999427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3/11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394960"/>
            <a:ext cx="10728655" cy="7315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5394960"/>
            <a:ext cx="137160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趋势总结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0" y="5394960"/>
            <a:ext cx="8625535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舆情从3月4日的"冷静等待"急剧转向3月6日后的"全面看多"，负面情绪集中在发布延迟与服务稳定性两个点上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舆情监测平台数据（2026-03-04 至 2026-03-11）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10/13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分角色行动建议：五大角色各有明确优先级，企业决策层与技术团队需紧急响应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371600"/>
            <a:ext cx="64008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行动建议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1371600"/>
            <a:ext cx="204185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优先级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28600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企业决策层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20240"/>
            <a:ext cx="640080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保持技术栈灵活性，V4发布首日测试复杂逻辑任务的成本效益比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0" y="1920240"/>
            <a:ext cx="2041855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紧急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228600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技术团队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51760"/>
            <a:ext cx="640080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重新评估RAG架构必要性，准备1M上下文接入方案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651760"/>
            <a:ext cx="2041855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紧急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83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383280"/>
            <a:ext cx="228600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投资者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383280"/>
            <a:ext cx="640080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关注真正完成V4适配的硬核标的，警惕纯情绪博弈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383280"/>
            <a:ext cx="2041855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重要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114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228600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内容创作者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4114800"/>
            <a:ext cx="640080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提前梳理DeepSeek技术演进路径，抢占评测内容先机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4114800"/>
            <a:ext cx="2041855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重要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8463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228600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算力供应商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17520" y="4846320"/>
            <a:ext cx="6400800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加速昇腾生态适配，抓住"华为+DeepSeek"标配化窗口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846320"/>
            <a:ext cx="2041855" cy="73152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紧急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5778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战略分析团队建议，2026年3月11日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11/13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297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V4 的意义已超越任何单一模型发布——它正在成为中国AI"算力主权化"的标志性事件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三维度战略价值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68580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8580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技术维度：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1M 上下文 + 原生多模态 + mHC/Engram 新架构，全面对标并超越国际顶尖水平。SWE-bench 83.7% 刷新纪录，推理成本可降低 90%。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生态维度：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战略性"去英伟达化"构建自主算力闭环，OpenClaw Agent框架增速超越Linux，"华为昇腾+DeepSeek"正在成为政企大模型标配。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资本维度：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"DeepSeek交易"成为全球半导体估值的宏观变量。V4发布将不仅改变AI竞争格局，更将深度影响全球科技资本流向。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80160"/>
            <a:ext cx="3230575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286481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Key Takeaways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1920240"/>
            <a:ext cx="286481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03120"/>
            <a:ext cx="2864815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1. V4 重新定义中国AI"算力主权"路径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2. 技术+生态+资本三维度联动，重塑2026年AI竞争格局底层逻辑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3. 留给V4的"独占窗口期"有限，速度即战略</a:t>
            </a: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  <a:p>
            <a:pPr algn="l">
              <a:lnSpc>
                <a:spcPts val="1620"/>
              </a:lnSpc>
              <a:spcBef>
                <a:spcPts val="40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4. 需警惕"利好出尽"风险，回归技术验证与API定价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Source: 综合分析，知识库监控报告（2026-03-04 至 2026-03-11）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12/13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18320" cy="9144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378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技术主权，算力自主，生态制胜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017520"/>
            <a:ext cx="2103120" cy="190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1828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DeepSeek-V4 的意义已超越单一模型发布</a:t>
            </a:r>
            <a:br/>
            <a:r>
              <a:rPr>
                <a:ea typeface="KaiTi"/>
              </a:rPr>
              <a:t>它正在成为中国AI产业"算力主权化"的标志性事件</a:t>
            </a:r>
            <a:br/>
            <a:r>
              <a:rPr>
                <a:ea typeface="KaiTi"/>
              </a:rPr>
              <a:t>从技术、生态、资本三个维度重塑AI竞争格局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4183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CONFIDENTIAL  |  战略分析报告  |  2026年3月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274320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