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AI 行业三日趋势深度报告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Agent智能体系统接管 · AI安全信任危机 · 企业架构落地深水区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CONFIDENTIAL  |  2026年3月13日 — 3月15日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73152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报告标准：McKinsey-Style Insight Brief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数据基座：6份知识库监控报告（2,571+条社媒信号）| 热点中台177条AI事件 | 30篇科技热文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覆盖平台：微博、B站、抖音、快手、头条、小红书、Reddit、Twitter、YouTube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9844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五大结构性趋势与紧迫度评级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AI Agent "桌面接管"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3852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OpenClaw生态爆发，巨头入场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从模型到架构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7860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M2架构层成为企业AI胜负手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0040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AI安全与信任危机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1868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315晚会曝光"AI投毒"产业链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4048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组织Agent化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5876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能力软件化（CaaS）元年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8056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传统产业革命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9884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制造业AI普及率突破30%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83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2064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舆情 &amp; 热文Top10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13892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三日舆情走势与热文排行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6235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576072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760720"/>
            <a:ext cx="3657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战略建议 &amp; 方法论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779008"/>
            <a:ext cx="5943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分角色行动建议与方法论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2636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知识库监控报告 + 热点中台，2026-03-13 至 2026-03-15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行业正从"大模型崇拜"全面转入"系统重构"深水区——五大结构性信号同步爆发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545003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2545003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2179243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160K+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37160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OpenClaw星标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716203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GitHub史上最快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3683" y="1143000"/>
            <a:ext cx="2545003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3683" y="1143000"/>
            <a:ext cx="2545003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6563" y="1280160"/>
            <a:ext cx="2179243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2,696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6563" y="1691640"/>
            <a:ext cx="137160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AI投毒热度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603" y="1691640"/>
            <a:ext cx="716203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实时飙升中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1143000"/>
            <a:ext cx="2545003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1143000"/>
            <a:ext cx="2545003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179243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30%+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91640"/>
            <a:ext cx="137160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制造业AI普及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1767" y="1691640"/>
            <a:ext cx="716203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工信部数据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1143000"/>
            <a:ext cx="2545003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011" y="114300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0891" y="1280160"/>
            <a:ext cx="2179243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2,571+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0891" y="1691640"/>
            <a:ext cx="137160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社媒信号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3931" y="1691640"/>
            <a:ext cx="716203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9大平台覆盖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377440"/>
            <a:ext cx="3200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核心趋势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37744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热度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3774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等级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651760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834640"/>
            <a:ext cx="30175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 Agent桌面接管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3040380"/>
            <a:ext cx="530352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3040380"/>
            <a:ext cx="5038344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10972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2944368"/>
            <a:ext cx="1005840" cy="3749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834640"/>
            <a:ext cx="100584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4290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429000"/>
            <a:ext cx="30175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企业转型 模型→架构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634740"/>
            <a:ext cx="530352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0" y="3634740"/>
            <a:ext cx="4667097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429000"/>
            <a:ext cx="10972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3538728"/>
            <a:ext cx="1005840" cy="3749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3429000"/>
            <a:ext cx="100584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0233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023360"/>
            <a:ext cx="30175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AI安全信任危机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4229100"/>
            <a:ext cx="530352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31920" y="4229100"/>
            <a:ext cx="4348886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4023360"/>
            <a:ext cx="10972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4133088"/>
            <a:ext cx="1005840" cy="37490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60"/>
            <a:ext cx="100584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6177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617720"/>
            <a:ext cx="30175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组织Agent化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823460"/>
            <a:ext cx="530352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31920" y="4823460"/>
            <a:ext cx="3712463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4617720"/>
            <a:ext cx="10972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24160" y="4727448"/>
            <a:ext cx="1005840" cy="37490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60" y="4617720"/>
            <a:ext cx="100584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212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30175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传统产业革命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5417820"/>
            <a:ext cx="530352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31920" y="5417820"/>
            <a:ext cx="2916936" cy="18288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5212080"/>
            <a:ext cx="10972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4160" y="5321808"/>
            <a:ext cx="1005840" cy="37490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0" y="5212080"/>
            <a:ext cx="100584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ONGOING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" y="5852160"/>
            <a:ext cx="137160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关键发现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0" y="5852160"/>
            <a:ext cx="8625535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三条主线72小时内同步演化：Agent执行化 + 架构胜负手 + 安全监管化</a:t>
            </a:r>
          </a:p>
          <a:p>
            <a:pPr algn="l">
              <a:lnSpc>
                <a:spcPts val="1485"/>
              </a:lnSpc>
              <a:spcBef>
                <a:spcPts val="30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数据覆盖：2,571+条社媒信号 | 177条热点事件 | 30篇科技热文 | 9大平台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知识库监控报告（6份），热点中台实时数据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趋势一：AI Agent从概念走向"桌面接管"——端到端价值链已形成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327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327" y="1188720"/>
            <a:ext cx="18288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9487" y="1371600"/>
            <a:ext cx="365760" cy="36576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1371600"/>
            <a:ext cx="10972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开源底座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487" y="1920240"/>
            <a:ext cx="15544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</a:t>
            </a:r>
            <a:br/>
            <a:r>
              <a:rPr>
                <a:ea typeface="KaiTi"/>
              </a:rPr>
              <a:t>16万+星标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83767" y="310896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767" y="3108960"/>
            <a:ext cx="164592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GitHub最快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6847" y="2331720"/>
            <a:ext cx="274320" cy="274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6887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86887" y="1188720"/>
            <a:ext cx="1828800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4047" y="1371600"/>
            <a:ext cx="365760" cy="36576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247" y="1371600"/>
            <a:ext cx="10972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平台封装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4047" y="1920240"/>
            <a:ext cx="15544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QClaw/JVS</a:t>
            </a:r>
            <a:br/>
            <a:r>
              <a:rPr>
                <a:ea typeface="KaiTi"/>
              </a:rPr>
              <a:t>巨头入场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78327" y="310896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8327" y="3108960"/>
            <a:ext cx="164592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热度765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407" y="2331720"/>
            <a:ext cx="274320" cy="274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447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1447" y="1188720"/>
            <a:ext cx="1828800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18607" y="1371600"/>
            <a:ext cx="365760" cy="36576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5807" y="1371600"/>
            <a:ext cx="10972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场景应用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8607" y="1920240"/>
            <a:ext cx="15544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多Agent协作</a:t>
            </a:r>
            <a:br/>
            <a:r>
              <a:rPr>
                <a:ea typeface="KaiTi"/>
              </a:rPr>
              <a:t>一人指挥4AI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2887" y="310896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2887" y="3108960"/>
            <a:ext cx="164592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ArkClaw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2331720"/>
            <a:ext cx="274320" cy="274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6007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6007" y="1188720"/>
            <a:ext cx="1828800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3167" y="137160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367" y="1371600"/>
            <a:ext cx="10972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商业变现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3167" y="1920240"/>
            <a:ext cx="15544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15岁少年</a:t>
            </a:r>
            <a:br/>
            <a:r>
              <a:rPr>
                <a:ea typeface="KaiTi"/>
              </a:rPr>
              <a:t>月入3万$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67447" y="310896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7447" y="3108960"/>
            <a:ext cx="164592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龙虾养殖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0527" y="2331720"/>
            <a:ext cx="274320" cy="274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70567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70567" y="1188720"/>
            <a:ext cx="18288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07727" y="1371600"/>
            <a:ext cx="365760" cy="36576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4927" y="1371600"/>
            <a:ext cx="10972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生态闭环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7727" y="1920240"/>
            <a:ext cx="15544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入口之争</a:t>
            </a:r>
            <a:br/>
            <a:r>
              <a:rPr>
                <a:ea typeface="KaiTi"/>
              </a:rPr>
              <a:t>社交/云/内容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62007" y="310896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62007" y="3108960"/>
            <a:ext cx="164592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终局格局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023360"/>
            <a:ext cx="10728655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4023360"/>
            <a:ext cx="18288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McKinsey 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023360"/>
            <a:ext cx="816833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AI正从"对话时代"跨入"执行时代"——从"人操作软件"到"AI操作一切"。黄仁勋："Agentic AI的真正实力"。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937760"/>
            <a:ext cx="1072865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平台生态格局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349240"/>
            <a:ext cx="257243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349240"/>
            <a:ext cx="54864" cy="8229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376672"/>
            <a:ext cx="229811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腾讯 QClaw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650992"/>
            <a:ext cx="2298115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微信+QQ入口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热度: 765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13683" y="5349240"/>
            <a:ext cx="257243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13683" y="5349240"/>
            <a:ext cx="54864" cy="822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96563" y="5376672"/>
            <a:ext cx="229811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阿里 JVS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6563" y="5650992"/>
            <a:ext cx="2298115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云服务生态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热度: 599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5847" y="5349240"/>
            <a:ext cx="257243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5847" y="5349240"/>
            <a:ext cx="54864" cy="82296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78727" y="5376672"/>
            <a:ext cx="229811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字节 ArkClaw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8727" y="5650992"/>
            <a:ext cx="2298115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飞书/抖音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热度: 287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011" y="5349240"/>
            <a:ext cx="257243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78011" y="5349240"/>
            <a:ext cx="54864" cy="8229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0891" y="5376672"/>
            <a:ext cx="229811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OpenClaw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0891" y="5650992"/>
            <a:ext cx="2298115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开源框架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热度: 160K+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知识库《企业AI转型动态》2026-03-15，GitHub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 Agent 生态全景：从开源底座到商业闭环——核心参与者与路径图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9436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" y="1225296"/>
            <a:ext cx="5870448" cy="3584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261872"/>
            <a:ext cx="5797296" cy="351129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94360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[ 请插入图片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943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 Agent 生态全景图 / 架构示意图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88720"/>
            <a:ext cx="4510735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188720"/>
            <a:ext cx="4510735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414497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生态要点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737360"/>
            <a:ext cx="414497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874520"/>
            <a:ext cx="54864" cy="54864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874520"/>
            <a:ext cx="3870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开源底座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30552"/>
            <a:ext cx="387065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 16万+星标</a:t>
            </a:r>
            <a:br/>
            <a:r>
              <a:rPr>
                <a:ea typeface="KaiTi"/>
              </a:rPr>
              <a:t>全球最快增长项目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06040"/>
            <a:ext cx="54864" cy="54864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606040"/>
            <a:ext cx="3870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平台封装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62072"/>
            <a:ext cx="387065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腾讯QClaw、阿里JVS</a:t>
            </a:r>
            <a:br/>
            <a:r>
              <a:rPr>
                <a:ea typeface="KaiTi"/>
              </a:rPr>
              <a:t>字节ArkClaw入场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337560"/>
            <a:ext cx="54864" cy="54864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337560"/>
            <a:ext cx="3870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场景落地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93592"/>
            <a:ext cx="387065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多Agent协作体系</a:t>
            </a:r>
            <a:br/>
            <a:r>
              <a:rPr>
                <a:ea typeface="KaiTi"/>
              </a:rPr>
              <a:t>从对话到执行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069080"/>
            <a:ext cx="54864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069080"/>
            <a:ext cx="3870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商业验证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325112"/>
            <a:ext cx="387065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15岁少年月入3万$</a:t>
            </a:r>
            <a:br/>
            <a:r>
              <a:rPr>
                <a:ea typeface="KaiTi"/>
              </a:rPr>
              <a:t>AI龙虾养殖出圈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74920"/>
            <a:ext cx="29260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292608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[ 请插入图片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15000"/>
            <a:ext cx="2926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Agent 交互界面截图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5074920"/>
            <a:ext cx="7619695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5212080"/>
            <a:ext cx="707105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三日关键数据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32120"/>
            <a:ext cx="7071055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GitHub新增星标：32,000+（3日均值）</a:t>
            </a:r>
          </a:p>
          <a:p>
            <a:pPr algn="l">
              <a:lnSpc>
                <a:spcPts val="1485"/>
              </a:lnSpc>
              <a:spcBef>
                <a:spcPts val="30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Agent相关PR提交：1,200+（24h峰值）</a:t>
            </a:r>
          </a:p>
          <a:p>
            <a:pPr algn="l">
              <a:lnSpc>
                <a:spcPts val="1485"/>
              </a:lnSpc>
              <a:spcBef>
                <a:spcPts val="30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企业POC启动数：47家（公开披露）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GitHub, 产品公开信息, 知识库《企业AI转型动态》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趋势二：95%的AI项目败于架构——从"模型崇拜"到"架构落地"的关键转变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34747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转型前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188720"/>
            <a:ext cx="34747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转型后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188720"/>
            <a:ext cx="11887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554480"/>
            <a:ext cx="34747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企业关注焦点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5448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模型采购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8229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554480"/>
            <a:ext cx="3474720" cy="86868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5448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企业关注焦点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5448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架构中台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664208"/>
            <a:ext cx="1051560" cy="68580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664208"/>
            <a:ext cx="105156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质变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514600"/>
            <a:ext cx="34747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51460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Token单价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51460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¥100/百万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14600"/>
            <a:ext cx="8229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514600"/>
            <a:ext cx="3474720" cy="86868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51460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Token单价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51460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¥1/百万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624328"/>
            <a:ext cx="1051560" cy="68580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624328"/>
            <a:ext cx="105156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–99%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474720"/>
            <a:ext cx="34747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347472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企业AI月支出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¥50万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474720"/>
            <a:ext cx="8229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474720"/>
            <a:ext cx="3474720" cy="86868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347472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企业AI月支出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47472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¥68万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3584448"/>
            <a:ext cx="105156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584448"/>
            <a:ext cx="105156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+36%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4434840"/>
            <a:ext cx="34747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43484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架构认知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43484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M1模型层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434840"/>
            <a:ext cx="8229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4434840"/>
            <a:ext cx="3474720" cy="86868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4434840"/>
            <a:ext cx="128016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架构认知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434840"/>
            <a:ext cx="182880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M2架构层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4544568"/>
            <a:ext cx="1051560" cy="68580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4544568"/>
            <a:ext cx="105156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拐点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62356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623560"/>
            <a:ext cx="1018001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行动公式：AI竞争力 = Tokens / (Dollar × Watt) ——纳德拉，2026达沃斯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知识库《企业AI转型动态》2026-03-14/15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架构落地三大行动：停止盲目采购 → 建立数据主权 → 掌握上下文工程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停止盲目采购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停止采购通用大模型工具，转投M2架构中台，建立企业级API编排层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05740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建立数据主权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30936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推理痕迹留在企业内部，业务Know-how资产化，多模型切换自主可控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01752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上下文工程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29000"/>
            <a:ext cx="630936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企业IP = 多模型编排 × 自有数据，Prompt Engineering 2.0升级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9776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8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设立实权CAIO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89120"/>
            <a:ext cx="630936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一把手破局，赋予CAIO资源调度权和业务决策权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93776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749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292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全员AI培训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49240"/>
            <a:ext cx="630936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建立guardrails，每季度评估AI工具ROI，淘汰低效工具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188720"/>
            <a:ext cx="3596335" cy="4937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46304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预期回报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20240"/>
            <a:ext cx="304769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48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3-5x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56032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AI投资回报倍数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108960"/>
            <a:ext cx="3047695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38328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投资回收期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65760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12-18个月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02336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架构成本降低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29768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30-40%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66344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风险等级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93776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中低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微软CEO达沃斯论坛，2026年1月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趋势三：AI安全与信任危机——风险评估矩阵（影响×概率）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463040" cy="12801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高概率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463040" cy="12801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中概率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463040" cy="12801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低概率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43000"/>
            <a:ext cx="27432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低影响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143000"/>
            <a:ext cx="27432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143000"/>
            <a:ext cx="27432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高影响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463040"/>
            <a:ext cx="2697480" cy="1234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155448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2697480" cy="12344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554480"/>
            <a:ext cx="18288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63040"/>
            <a:ext cx="2697480" cy="12344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554480"/>
            <a:ext cx="18288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743200"/>
            <a:ext cx="269748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2834640"/>
            <a:ext cx="182880" cy="18288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743200"/>
            <a:ext cx="2697480" cy="1234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283464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2743200"/>
            <a:ext cx="2697480" cy="12344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2834640"/>
            <a:ext cx="18288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4023360"/>
            <a:ext cx="269748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4114800"/>
            <a:ext cx="182880" cy="18288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4023360"/>
            <a:ext cx="269748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0" y="4114800"/>
            <a:ext cx="182880" cy="18288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4023360"/>
            <a:ext cx="2697480" cy="1234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411480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1600200"/>
            <a:ext cx="2194560" cy="10058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AI投毒/GEO</a:t>
            </a:r>
            <a:br/>
            <a:r>
              <a:rPr>
                <a:ea typeface="KaiTi"/>
              </a:rPr>
              <a:t>热度2696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00200"/>
            <a:ext cx="2194560" cy="10058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军事化应用</a:t>
            </a:r>
            <a:br/>
            <a:r>
              <a:rPr>
                <a:ea typeface="KaiTi"/>
              </a:rPr>
              <a:t>热度385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880360"/>
            <a:ext cx="2194560" cy="10058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AI色情滥用</a:t>
            </a:r>
            <a:br/>
            <a:r>
              <a:rPr>
                <a:ea typeface="KaiTi"/>
              </a:rPr>
              <a:t>热度546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880360"/>
            <a:ext cx="2194560" cy="10058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AI换脸诈骗</a:t>
            </a:r>
            <a:br/>
            <a:r>
              <a:rPr>
                <a:ea typeface="KaiTi"/>
              </a:rPr>
              <a:t>热度787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80360"/>
            <a:ext cx="2194560" cy="10058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隐私泄露</a:t>
            </a:r>
            <a:br/>
            <a:r>
              <a:rPr>
                <a:ea typeface="KaiTi"/>
              </a:rPr>
              <a:t>热度577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60520"/>
            <a:ext cx="2194560" cy="10058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深度伪造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257800"/>
            <a:ext cx="10728655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13716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应对措施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577840"/>
            <a:ext cx="10180015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红色区域：315曝光GEO产业链+Claude军事化——立即评估合规</a:t>
            </a:r>
          </a:p>
          <a:p>
            <a:pPr algn="l">
              <a:lnSpc>
                <a:spcPts val="1485"/>
              </a:lnSpc>
              <a:spcBef>
                <a:spcPts val="40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橙色区域：换脸诈骗/隐私泄露/色情滥用——双周监控</a:t>
            </a:r>
          </a:p>
          <a:p>
            <a:pPr algn="l">
              <a:lnSpc>
                <a:spcPts val="1485"/>
              </a:lnSpc>
              <a:spcBef>
                <a:spcPts val="40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绿色区域：深伪技术——季度回顾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热点中台实时事件，知识库2026-03-15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趋势四：能力软件化（CaaS）元年——组织Agent化六大核心能力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39058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439058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AI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1人+N个Agent协同</a:t>
            </a:r>
            <a:br/>
            <a:r>
              <a:rPr>
                <a:ea typeface="KaiTi"/>
              </a:rPr>
              <a:t>突破人才瓶颈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188720"/>
            <a:ext cx="3439058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188720"/>
            <a:ext cx="3439058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1417320"/>
            <a:ext cx="548640" cy="54864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1417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1417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AI Auto-pilot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2103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业务场景自动规划</a:t>
            </a:r>
            <a:br/>
            <a:r>
              <a:rPr>
                <a:ea typeface="KaiTi"/>
              </a:rPr>
              <a:t>个人能力指数级增长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3956" y="1188720"/>
            <a:ext cx="3439058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3956" y="1188720"/>
            <a:ext cx="3439058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8276" y="1417320"/>
            <a:ext cx="548640" cy="54864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8276" y="1417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9796" y="1417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AI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2103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核心竞争力原子拆解</a:t>
            </a:r>
            <a:br/>
            <a:r>
              <a:rPr>
                <a:ea typeface="KaiTi"/>
              </a:rPr>
              <a:t>从卖产品→卖能力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3439058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3439058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3703320"/>
            <a:ext cx="548640" cy="5486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703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703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推理降本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成本降至¥1/百万Token</a:t>
            </a:r>
            <a:br/>
            <a:r>
              <a:rPr>
                <a:ea typeface="KaiTi"/>
              </a:rPr>
              <a:t>年降10倍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7738" y="3474720"/>
            <a:ext cx="3439058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7738" y="3474720"/>
            <a:ext cx="3439058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82058" y="3703320"/>
            <a:ext cx="548640" cy="5486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2058" y="3703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3578" y="3703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劳动力重塑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2058" y="4389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36%译员丢失订单</a:t>
            </a:r>
            <a:br/>
            <a:r>
              <a:rPr>
                <a:ea typeface="KaiTi"/>
              </a:rPr>
              <a:t>初级岗位加速消失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3956" y="3474720"/>
            <a:ext cx="3439058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3956" y="3474720"/>
            <a:ext cx="3439058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58276" y="3703320"/>
            <a:ext cx="548640" cy="54864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8276" y="3703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9796" y="3703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效率陷阱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8276" y="4389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AI提升上限→资本变下限</a:t>
            </a:r>
            <a:br/>
            <a:r>
              <a:rPr>
                <a:ea typeface="KaiTi"/>
              </a:rPr>
              <a:t>KPI通胀危机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15000"/>
            <a:ext cx="10728655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715000"/>
            <a:ext cx="1018001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"效率陷阱"：员工越努力展示AI价值 → 越快证明自身冗余性。全球仅14%员工每天使用生成式AI。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知识库《企业AI转型动态》2026-03-13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趋势五：传统产业"静悄悄的革命"——制造业AI SWOT分析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5272887" cy="196596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5272887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907127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S — 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07127" cy="1325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规上制造业AI普及率&gt;30%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工厂利用率提升至83%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人形机器人300+款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开源模型下载全球居首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1567" y="1143000"/>
            <a:ext cx="5272887" cy="1965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1567" y="1143000"/>
            <a:ext cx="5272887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1280160"/>
            <a:ext cx="4907127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W — 劣势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645920"/>
            <a:ext cx="4907127" cy="1325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中小企业AI渗透率低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高端芯片依赖进口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AI人才结构性短缺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数据孤岛问题突出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272887" cy="1965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272887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907127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O — 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907127" cy="1325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苏州算力/Token补贴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上海AI+制造推广目录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两会"人工智能+"行动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传媒大学砍16专业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1567" y="3200400"/>
            <a:ext cx="5272887" cy="1965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1567" y="3200400"/>
            <a:ext cx="5272887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3337560"/>
            <a:ext cx="4907127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T — 威胁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703320"/>
            <a:ext cx="4907127" cy="1325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国际AI竞争加剧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监管收紧合规成本升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岗位替代社会压力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迭代快回收周期不确定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728655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10180015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综合判断：传统产业AI化处于"S曲线"加速拐点，政策+成本+标杆三重驱动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知识库2026-03-15，工信部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舆情温度计：负面情绪从25%降至10%——情绪变化桥接分析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瀑布图 — 负面情绪占比变化（%）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078992"/>
            <a:ext cx="137160" cy="1371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051560"/>
            <a:ext cx="82296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基准值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078992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051560"/>
            <a:ext cx="118872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增加（负面回弹）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078992"/>
            <a:ext cx="137160" cy="13716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051560"/>
            <a:ext cx="118872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减少（正面拉升）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87880"/>
            <a:ext cx="1097280" cy="3124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6784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3/13负面</a:t>
            </a:r>
            <a:br/>
            <a:r>
              <a:rPr>
                <a:ea typeface="KaiTi"/>
              </a:rPr>
              <a:t>基准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087880"/>
            <a:ext cx="1097280" cy="99974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76784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Agent爆发</a:t>
            </a:r>
            <a:br/>
            <a:r>
              <a:rPr>
                <a:ea typeface="KaiTi"/>
              </a:rPr>
              <a:t>正面拉升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462784"/>
            <a:ext cx="1097280" cy="624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142744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+5%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315曝光</a:t>
            </a:r>
            <a:br/>
            <a:r>
              <a:rPr>
                <a:ea typeface="KaiTi"/>
              </a:rPr>
              <a:t>负面回弹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462784"/>
            <a:ext cx="1097280" cy="62484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142744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架构认知</a:t>
            </a:r>
            <a:br/>
            <a:r>
              <a:rPr>
                <a:ea typeface="KaiTi"/>
              </a:rPr>
              <a:t>理性回调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087624"/>
            <a:ext cx="1097280" cy="49987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767584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产业利好</a:t>
            </a:r>
            <a:br/>
            <a:r>
              <a:rPr>
                <a:ea typeface="KaiTi"/>
              </a:rPr>
              <a:t>信心提振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587496"/>
            <a:ext cx="1097280" cy="37490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67456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养龙虾</a:t>
            </a:r>
            <a:br/>
            <a:r>
              <a:rPr>
                <a:ea typeface="KaiTi"/>
              </a:rPr>
              <a:t>正面传播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3962400"/>
            <a:ext cx="1097280" cy="12496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64236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25780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3/15负面</a:t>
            </a:r>
            <a:br/>
            <a:r>
              <a:rPr>
                <a:ea typeface="KaiTi"/>
              </a:rPr>
              <a:t>终值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212080"/>
            <a:ext cx="100584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66928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趋势判读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66928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负面情绪净下降15个百分点。Agent/CaaS正面叙事主导，但315曝光引发5%短暂回弹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舆情监测平台，覆盖9大平台，2,571+条信号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72小时热文Top 10：AI龙虾少年、腾讯3D游戏原型领跑全网热度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97280"/>
            <a:ext cx="27432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热度指数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15岁少年养AI龙虾月入3万$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36192"/>
            <a:ext cx="5029200" cy="26517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508760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5675  (新智元)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38528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腾讯用AI生成3D游戏原型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965960"/>
            <a:ext cx="1402858" cy="2651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0618" y="1938528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1583  (游戏葡萄)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68296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368296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谷歌AI破解外星人难题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395728"/>
            <a:ext cx="652245" cy="2651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0005" y="2368296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736  (新智元)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98064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798064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Anthropic登时代封面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825496"/>
            <a:ext cx="537925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5685" y="2798064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607  (新智元)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27832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227832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网易MMO内置3D抖音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255264"/>
            <a:ext cx="473232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0992" y="3227832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534  (游戏葡萄)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657600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OpenClaw带火AI记忆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685032"/>
            <a:ext cx="451963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9723" y="3657600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510  (机器之心)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87368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087368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美军AI：Claude锁定1000目标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341188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78948" y="4087368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385  (新智元)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17136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517136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Claude设计负责人谈AI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544568"/>
            <a:ext cx="267633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05393" y="4517136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302  (机器之心)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46904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946904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火山ArkClaw一人指挥4AI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4974336"/>
            <a:ext cx="254340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92100" y="4946904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287  (新智元)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76672"/>
            <a:ext cx="4572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376672"/>
            <a:ext cx="34747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陶哲轩专访AI×Science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5404104"/>
            <a:ext cx="100140" cy="2651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37900" y="5376672"/>
            <a:ext cx="137160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113  (量子位)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科技垂类媒体热文监控，2026-03-13 至 2026-03-15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对企业决策者：六大行动项进度追踪——P0级需立即执行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4114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行动项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88720"/>
            <a:ext cx="10972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优先级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16459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时间窗口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188720"/>
            <a:ext cx="18288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10728655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4572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45920"/>
            <a:ext cx="41148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设立实权CAIO，启动Agent化试点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755648"/>
            <a:ext cx="731520" cy="46634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645920"/>
            <a:ext cx="7315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16459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立即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737360"/>
            <a:ext cx="137160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13716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→ 进行中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317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31720"/>
            <a:ext cx="4572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31720"/>
            <a:ext cx="41148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建立M2架构中台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2441448"/>
            <a:ext cx="731520" cy="46634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331720"/>
            <a:ext cx="7315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16459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30天内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2423160"/>
            <a:ext cx="13716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331720"/>
            <a:ext cx="13716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○ 待启动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0175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017520"/>
            <a:ext cx="10728655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017520"/>
            <a:ext cx="4572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017520"/>
            <a:ext cx="41148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构建私有化数据资产库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3127248"/>
            <a:ext cx="731520" cy="46634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017520"/>
            <a:ext cx="7315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017520"/>
            <a:ext cx="16459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60天内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3108960"/>
            <a:ext cx="13716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3017520"/>
            <a:ext cx="13716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○ 待启动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033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703320"/>
            <a:ext cx="4572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703320"/>
            <a:ext cx="41148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评估315合规风险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3813048"/>
            <a:ext cx="731520" cy="46634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703320"/>
            <a:ext cx="7315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16459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1周内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3794760"/>
            <a:ext cx="137160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3703320"/>
            <a:ext cx="13716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→ 进行中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4389120"/>
            <a:ext cx="10728655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389120"/>
            <a:ext cx="4572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389120"/>
            <a:ext cx="41148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探索OpenClaw生态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4498848"/>
            <a:ext cx="731520" cy="46634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4389120"/>
            <a:ext cx="7315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389120"/>
            <a:ext cx="16459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持续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4480560"/>
            <a:ext cx="13716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80" y="4389120"/>
            <a:ext cx="13716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○ 待启动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074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074920"/>
            <a:ext cx="4572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5074920"/>
            <a:ext cx="41148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HR重定义人机边界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5184648"/>
            <a:ext cx="731520" cy="46634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40680" y="5074920"/>
            <a:ext cx="7315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P1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074920"/>
            <a:ext cx="164592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90天内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80" y="5166360"/>
            <a:ext cx="13716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5074920"/>
            <a:ext cx="1371600" cy="6858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○ 待启动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5806440"/>
            <a:ext cx="274320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总进度：0/6 完成，2 进行中 (16%)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31920" y="5989320"/>
            <a:ext cx="7071055" cy="182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31920" y="5989320"/>
            <a:ext cx="1178509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战略分析团队建议，2026年3月15日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对投资者：三阶段布局——短期安全→中期Agent基础设施→长期CaaS平台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垂直步骤图 — 投资布局时间线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078992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051560"/>
            <a:ext cx="10972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短期催化（红）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078992"/>
            <a:ext cx="137160" cy="1371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51560"/>
            <a:ext cx="10972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中期主线（蓝）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078992"/>
            <a:ext cx="137160" cy="13716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051560"/>
            <a:ext cx="10972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长期赛道（绿）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508760"/>
            <a:ext cx="54864" cy="1234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50876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1508760"/>
            <a:ext cx="9722815" cy="12344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1508760"/>
            <a:ext cx="972281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164592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短期催化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645920"/>
            <a:ext cx="1371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1-3个月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057400"/>
            <a:ext cx="935705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315曝光利好AI安全板块。关注：国投智能、三六零、格灵深瞳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880360"/>
            <a:ext cx="54864" cy="123444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28803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880360"/>
            <a:ext cx="9722815" cy="123444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2880360"/>
            <a:ext cx="9722815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01752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中期主线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017520"/>
            <a:ext cx="1371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3-12个月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429000"/>
            <a:ext cx="935705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 Agent基础设施。关注：多智能体编排、AI记忆系统、Agent工具链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251960"/>
            <a:ext cx="54864" cy="123444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251960"/>
            <a:ext cx="9722815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4251960"/>
            <a:ext cx="9722815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438912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长期赛道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389120"/>
            <a:ext cx="13716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1-3年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800600"/>
            <a:ext cx="935705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企业M2架构服务商、行业垂直智能体平台、CaaS能力软件化平台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806440"/>
            <a:ext cx="137160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风险提示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806440"/>
            <a:ext cx="8625535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监管加速风险 | 泡沫信号（讨论焦点仅限科技公司本身即为泡沫）| 人才断层5年后显现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综合分析，热点中台事件库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深度对比：四大Agent平台竞争矩阵——用户规模 vs 技术壁垒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2×2矩阵图 — X轴: 技术壁垒 | Y轴: 用户规模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078992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051560"/>
            <a:ext cx="914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核心赢家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078992"/>
            <a:ext cx="137160" cy="13716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051560"/>
            <a:ext cx="73152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观望区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078992"/>
            <a:ext cx="137160" cy="1371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051560"/>
            <a:ext cx="10972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Keep Informed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39" y="1078992"/>
            <a:ext cx="137160" cy="1371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051560"/>
            <a:ext cx="82296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潜力选手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508760"/>
            <a:ext cx="4069080" cy="178308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00200"/>
            <a:ext cx="38404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高用户+低壁垒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65960"/>
            <a:ext cx="3840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字节 ArkClaw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194560"/>
            <a:ext cx="384048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飞书/抖音生态，热度287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508760"/>
            <a:ext cx="4069080" cy="1783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600200"/>
            <a:ext cx="38404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高用户+高壁垒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965960"/>
            <a:ext cx="3840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腾讯 QClaw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194560"/>
            <a:ext cx="384048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社交入口垄断，765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423160"/>
            <a:ext cx="3840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阿里 JVS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51760"/>
            <a:ext cx="384048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云服务生态，599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337560"/>
            <a:ext cx="4069080" cy="1783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3429000"/>
            <a:ext cx="38404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低用户+低壁垒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794760"/>
            <a:ext cx="3840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其他跟随者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023360"/>
            <a:ext cx="384048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碎片化竞争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337560"/>
            <a:ext cx="4069080" cy="1783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429000"/>
            <a:ext cx="38404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低用户+高壁垒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794760"/>
            <a:ext cx="3840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OpenClaw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023360"/>
            <a:ext cx="3840480" cy="182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开源框架，160K+Stars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508760"/>
            <a:ext cx="1645920" cy="36576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用</a:t>
            </a:r>
            <a:br/>
            <a:r>
              <a:rPr>
                <a:ea typeface="KaiTi"/>
              </a:rPr>
              <a:t>户</a:t>
            </a:r>
            <a:br/>
            <a:r>
              <a:rPr>
                <a:ea typeface="KaiTi"/>
              </a:rPr>
              <a:t>规</a:t>
            </a:r>
            <a:br/>
            <a:r>
              <a:rPr>
                <a:ea typeface="KaiTi"/>
              </a:rPr>
              <a:t>模</a:t>
            </a:r>
            <a:br/>
            <a:r>
              <a:rPr>
                <a:ea typeface="KaiTi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257800"/>
            <a:ext cx="82296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技术壁垒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486400"/>
            <a:ext cx="10180015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Agent平台之争本质是"入口之争"。腾讯握社交，阿里握云，字节握内容。OpenClaw可能成为三家通吃的底座。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知识库监控报告，GitHub，产品公开信息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"效率陷阱"深度剖析：问题诊断树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决策树 — 从核心矛盾到具体表现的因果分解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078992"/>
            <a:ext cx="137160" cy="1371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051560"/>
            <a:ext cx="128016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冗余性悖论（蓝）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078992"/>
            <a:ext cx="137160" cy="1371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051560"/>
            <a:ext cx="118872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KPI通胀（橙）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078992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051560"/>
            <a:ext cx="118872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梯队断层（红）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1828800" cy="10972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28800" cy="10972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效率陷阱</a:t>
            </a:r>
            <a:br/>
            <a:r>
              <a:rPr>
                <a:ea typeface="KaiTi"/>
              </a:rPr>
              <a:t>核心矛盾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10896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108960"/>
            <a:ext cx="3200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828800"/>
            <a:ext cx="12700" cy="22860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1828800"/>
            <a:ext cx="2286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182880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40" y="1828800"/>
            <a:ext cx="3200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417320"/>
            <a:ext cx="1645920" cy="822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417320"/>
            <a:ext cx="164592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冗余性悖论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856232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→自证冗余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297180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3240" y="2971800"/>
            <a:ext cx="3200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2560320"/>
            <a:ext cx="1645920" cy="8229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560320"/>
            <a:ext cx="164592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KPI通胀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999232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→薪资停滞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411480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4114800"/>
            <a:ext cx="3200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703320"/>
            <a:ext cx="164592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3703320"/>
            <a:ext cx="164592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梯队断层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142232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→人才消失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182880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182880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49240" y="1623060"/>
            <a:ext cx="127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49240" y="1623060"/>
            <a:ext cx="1524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49240" y="162306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9240" y="162306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0" y="137160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2" y="1371600"/>
            <a:ext cx="804672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展示AI价值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1371600"/>
            <a:ext cx="658368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→被裁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203454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49240" y="203454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178308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2432" y="1783080"/>
            <a:ext cx="804672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产出3倍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1783080"/>
            <a:ext cx="658368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→砍2/3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297180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0" y="297180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49240" y="2766060"/>
            <a:ext cx="127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49240" y="2766060"/>
            <a:ext cx="1524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49240" y="276606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49240" y="276606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0" y="251460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42432" y="2514600"/>
            <a:ext cx="804672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KPI成倍增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2514600"/>
            <a:ext cx="658368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→薪资不变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317754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49240" y="317754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0" y="292608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42432" y="2926080"/>
            <a:ext cx="804672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按Token计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2926080"/>
            <a:ext cx="658368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→白领困境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11480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411480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49240" y="3909060"/>
            <a:ext cx="127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49240" y="3909060"/>
            <a:ext cx="1524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49240" y="390906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49240" y="390906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0" y="365760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42432" y="3657600"/>
            <a:ext cx="804672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初级岗消失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3952" y="3657600"/>
            <a:ext cx="658368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→学徒崩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49240" y="4320540"/>
            <a:ext cx="320040" cy="1270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49240" y="4320540"/>
            <a:ext cx="320040" cy="15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69280" y="406908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42432" y="4069080"/>
            <a:ext cx="804672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5年后断层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3952" y="4069080"/>
            <a:ext cx="658368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→系统风险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60920" y="1371600"/>
            <a:ext cx="4099255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98080" y="1463040"/>
            <a:ext cx="382493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应对策略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98080" y="1828800"/>
            <a:ext cx="38249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0" y="1965960"/>
            <a:ext cx="3824935" cy="2926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 重新定义人机协作边界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 AI作为增强而非替代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 保留初级培训岗位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 KPI与AI工具脱钩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5. 建立人才储备基金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5840" y="5486400"/>
            <a:ext cx="10180015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战略警示：HR必须在90天内重新定义人机职责边界，否则面临"人才断层+劳动法风险"双重困境。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PwC 2025, Nimdzi 2025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核心洞见：行业正从"大模型崇拜"全面转入"系统重构"深水区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三条主线同步演化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执行时代开启：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 Agent升级为"桌面操作系统"。OpenClaw 16万星标，腾讯/阿里/字节入场终局。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架构决定成败：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95%AI项目败于架构。"双机理论"M2架构融合层成为核心壁垒。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安全与治理：</a:t>
            </a:r>
          </a:p>
          <a:p>
            <a:pPr algn="l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315晚会首次将AI安全作为核心议题。监管从观望转向主动介入。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280160"/>
            <a:ext cx="3596335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23057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920240"/>
            <a:ext cx="323057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0" y="2103120"/>
            <a:ext cx="320040" cy="3200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103120"/>
            <a:ext cx="28190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Agent时代已至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95728"/>
            <a:ext cx="281909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对话→执行不可逆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0" y="2880360"/>
            <a:ext cx="320040" cy="320040"/>
          </a:xfrm>
          <a:prstGeom prst="ellipse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0360"/>
            <a:ext cx="28190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架构&gt;模型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72968"/>
            <a:ext cx="281909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M2层决定AI生死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3657600"/>
            <a:ext cx="320040" cy="32004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57600"/>
            <a:ext cx="28190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安全强监管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950208"/>
            <a:ext cx="281909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315标志新阶段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44348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434840"/>
            <a:ext cx="28190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62828"/>
                </a:solidFill>
                <a:latin typeface="Arial"/>
              </a:defRPr>
            </a:pPr>
            <a:r>
              <a:rPr>
                <a:ea typeface="KaiTi"/>
              </a:rPr>
              <a:t>组织重塑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727448"/>
            <a:ext cx="281909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CaaS元年开启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0" y="5212080"/>
            <a:ext cx="320040" cy="3200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12080"/>
            <a:ext cx="28190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制造业30%+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504688"/>
            <a:ext cx="2819095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AI成新常态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综合分析，知识库监控报告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方法论说明：覆盖9大平台、2,571+条信号、McKinsey MECE分析框架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6459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97280"/>
            <a:ext cx="36576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66928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3657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9大平台自动监控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56692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采集频率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20240"/>
            <a:ext cx="3657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每12小时，3日6轮次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56692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分析框架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377440"/>
            <a:ext cx="3657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MECE + FBTA四层法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56692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热度计算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834640"/>
            <a:ext cx="3657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传播量×速度×权重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56692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164592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舆情模型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291840"/>
            <a:ext cx="3657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正面/中性/负面三维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188720"/>
            <a:ext cx="460217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各平台信号量占比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463040"/>
            <a:ext cx="460217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60020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微博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600200"/>
            <a:ext cx="2560320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160020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7452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B站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874520"/>
            <a:ext cx="2316480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3160" y="187452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4884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抖音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148840"/>
            <a:ext cx="2133600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0280" y="214884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42316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快手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2423160"/>
            <a:ext cx="1706880" cy="20116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3560" y="242316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9748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头条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697480"/>
            <a:ext cx="1524000" cy="20116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0680" y="269748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97180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小红书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971800"/>
            <a:ext cx="1402080" cy="20116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8760" y="297180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24612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Reddit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3246120"/>
            <a:ext cx="1463040" cy="20116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24612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2044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Twitter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3520440"/>
            <a:ext cx="1341120" cy="20116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7800" y="352044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794760"/>
            <a:ext cx="73152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YouTube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794760"/>
            <a:ext cx="1225296" cy="20116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51976" y="3794760"/>
            <a:ext cx="457200" cy="201168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029200"/>
            <a:ext cx="2545003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5029200"/>
            <a:ext cx="54864" cy="11887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120640"/>
            <a:ext cx="2270683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6份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577840"/>
            <a:ext cx="2270683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知识库报告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13683" y="5029200"/>
            <a:ext cx="2545003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13683" y="5029200"/>
            <a:ext cx="54864" cy="1188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96563" y="5120640"/>
            <a:ext cx="2270683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177条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6563" y="5577840"/>
            <a:ext cx="2270683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热点事件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5847" y="5029200"/>
            <a:ext cx="2545003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95847" y="5029200"/>
            <a:ext cx="54864" cy="118872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78727" y="5120640"/>
            <a:ext cx="2270683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A53"/>
                </a:solidFill>
                <a:latin typeface="Arial"/>
              </a:defRPr>
            </a:pPr>
            <a:r>
              <a:rPr>
                <a:ea typeface="KaiTi"/>
              </a:rPr>
              <a:t>30篇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8727" y="5577840"/>
            <a:ext cx="2270683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科技热文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011" y="5029200"/>
            <a:ext cx="2545003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78011" y="5029200"/>
            <a:ext cx="54864" cy="118872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0891" y="5120640"/>
            <a:ext cx="2270683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9大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0891" y="5577840"/>
            <a:ext cx="2270683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覆盖平台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数据截止：2026年3月15日 21:57 CST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Agent接管，架构制胜，安全筑基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从大模型崇拜到系统重构</a:t>
            </a:r>
            <a:br/>
            <a:r>
              <a:rPr>
                <a:ea typeface="KaiTi"/>
              </a:rPr>
              <a:t>Agent时代已至，架构决定成败</a:t>
            </a:r>
            <a:br/>
            <a:r>
              <a:rPr>
                <a:ea typeface="KaiTi"/>
              </a:rPr>
              <a:t>安全治理从边缘走向中心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CONFIDENTIAL  |  AI行业三日趋势深度报告  |  2026年3月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